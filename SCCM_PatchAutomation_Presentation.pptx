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43447"/>
          </a:solidFill>
          <a:ln w="19050">
            <a:solidFill>
              <a:srgbClr val="00C8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457200"/>
            <a:ext cx="2743200" cy="2743200"/>
          </a:xfrm>
          <a:prstGeom prst="ellipse">
            <a:avLst/>
          </a:prstGeom>
          <a:solidFill>
            <a:srgbClr val="1B2E42"/>
          </a:solidFill>
          <a:ln w="12700">
            <a:solidFill>
              <a:srgbClr val="009E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34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C8A0"/>
                </a:solidFill>
              </a:rPr>
              <a:t>SCCM  ·  CONFIGMGR  ·  POWERSHELL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Error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286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8BA4BC"/>
                </a:solidFill>
              </a:rPr>
              <a:t>Automated collection creation &amp; targeted remediation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8BA4BC"/>
                </a:solidFill>
              </a:rPr>
              <a:t>for Windows Update / SCCM patching failures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4041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A0"/>
                </a:solidFill>
              </a:rPr>
              <a:t>29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27048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C"/>
                </a:solidFill>
              </a:rPr>
              <a:t>Error Codes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63240" y="4041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A0"/>
                </a:solidFill>
              </a:rPr>
              <a:t>15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178808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C"/>
                </a:solidFill>
              </a:rPr>
              <a:t>Remediation Scripts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4041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C8A0"/>
                </a:solidFill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830568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4BC"/>
                </a:solidFill>
              </a:rPr>
              <a:t>Master Dispatcher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Patch failures pile up with no automated triage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420624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630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426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</a:rPr>
              <a:t>Devices silently failing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84632" y="180136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Hundreds of machines stuck on patch errors with no visibility into which error code is causing which failure.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0" y="1298448"/>
            <a:ext cx="420624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426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</a:rPr>
              <a:t>Manual investigation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19472" y="180136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Admins manually open SCCM console, filter by error, identify devices, and run fixes one by one — no scalability.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" y="2898648"/>
            <a:ext cx="420624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632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</a:rPr>
              <a:t>No targeted remediation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84632" y="340156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Generic 'restart and retry' approaches don't fix root causes. 0x80073712 needs DISM. 0x80D02002 needs DO reset. They're different problems.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754880" y="2898648"/>
            <a:ext cx="420624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06324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3026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</a:rPr>
              <a:t>Collections don't exist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19472" y="340156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Without dedicated collections per error code, you can't deploy targeted fixes or track remediation progress at scale.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Two scripts. Full automation end to end.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160520" cy="3493008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89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444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A0"/>
                </a:solidFill>
              </a:rPr>
              <a:t>Collection Creator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901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SCCM_Create-PatchErrorCollections.ps1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2286000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Reads the error code catalogue (29 codes)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679192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Builds WQL query for each error code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072384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026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Creates one Device Collection per error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465576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19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Groups all collections in a console folder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3858768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Exports a CSV run log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1207008"/>
            <a:ext cx="4160520" cy="3493008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389888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22392" y="1444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A0"/>
                </a:solidFill>
              </a:rPr>
              <a:t>Master Dispatcher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28032" y="19019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SCCM_Master-PatchRemediation.ps1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828032" y="2286000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24" name="Text 20"/>
          <p:cNvSpPr/>
          <p:nvPr/>
        </p:nvSpPr>
        <p:spPr>
          <a:xfrm>
            <a:off x="5056632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Auto-detects error via WMI or registry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828032" y="2679192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26" name="Text 22"/>
          <p:cNvSpPr/>
          <p:nvPr/>
        </p:nvSpPr>
        <p:spPr>
          <a:xfrm>
            <a:off x="5056632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Maps error code to remediation script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828032" y="3072384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28" name="Text 24"/>
          <p:cNvSpPr/>
          <p:nvPr/>
        </p:nvSpPr>
        <p:spPr>
          <a:xfrm>
            <a:off x="5056632" y="3026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Executes the correct targeted script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828032" y="3465576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30" name="Text 26"/>
          <p:cNvSpPr/>
          <p:nvPr/>
        </p:nvSpPr>
        <p:spPr>
          <a:xfrm>
            <a:off x="5056632" y="3419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Logs all steps to Windows\Temp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828032" y="3858768"/>
            <a:ext cx="137160" cy="13716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32" name="Text 28"/>
          <p:cNvSpPr/>
          <p:nvPr/>
        </p:nvSpPr>
        <p:spPr>
          <a:xfrm>
            <a:off x="5056632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Falls back to generic WUA reset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489704" y="2697480"/>
            <a:ext cx="164592" cy="3657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4" name="Text 30"/>
          <p:cNvSpPr/>
          <p:nvPr/>
        </p:nvSpPr>
        <p:spPr>
          <a:xfrm>
            <a:off x="4407408" y="2514600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8A0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ERROR CODE COVERAGE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29 error codes across 7 categories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804672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109728" cy="80467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12435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A0"/>
                </a:solidFill>
              </a:rPr>
              <a:t>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07008" y="1408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2F6"/>
                </a:solidFill>
              </a:rPr>
              <a:t>Windows Update / WUA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1170432"/>
            <a:ext cx="4206240" cy="804672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70432"/>
            <a:ext cx="109728" cy="80467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2435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842"/>
                </a:solidFill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41848" y="14081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2F6"/>
                </a:solidFill>
              </a:rPr>
              <a:t>CBS / Component Store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157984"/>
            <a:ext cx="4206240" cy="804672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57984"/>
            <a:ext cx="109728" cy="804672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A0"/>
                </a:solidFill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07008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2F6"/>
                </a:solidFill>
              </a:rPr>
              <a:t>WSUS / SUP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2157984"/>
            <a:ext cx="4206240" cy="804672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57984"/>
            <a:ext cx="109728" cy="80467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842"/>
                </a:solidFill>
              </a:rPr>
              <a:t>2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641848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2F6"/>
                </a:solidFill>
              </a:rPr>
              <a:t>Download / BITS / DP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3145536"/>
            <a:ext cx="4206240" cy="804672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145536"/>
            <a:ext cx="109728" cy="804672"/>
          </a:xfrm>
          <a:prstGeom prst="rect">
            <a:avLst/>
          </a:prstGeom>
          <a:solidFill>
            <a:srgbClr val="00E5B8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" y="3218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E5B8"/>
                </a:solidFill>
              </a:rPr>
              <a:t>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07008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2F6"/>
                </a:solidFill>
              </a:rPr>
              <a:t>Delivery Optimization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3145536"/>
            <a:ext cx="4206240" cy="804672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145536"/>
            <a:ext cx="109728" cy="80467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2186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842"/>
                </a:solidFill>
              </a:rPr>
              <a:t>1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641848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2F6"/>
                </a:solidFill>
              </a:rPr>
              <a:t>Certificate / PKI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8503920" cy="804672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33088"/>
            <a:ext cx="109728" cy="804672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31" name="Text 29"/>
          <p:cNvSpPr/>
          <p:nvPr/>
        </p:nvSpPr>
        <p:spPr>
          <a:xfrm>
            <a:off x="521208" y="4206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A5A"/>
                </a:solidFill>
              </a:rPr>
              <a:t>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207008" y="43708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2F6"/>
                </a:solidFill>
              </a:rPr>
              <a:t>SCCM Client / Handler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STEP 1 — COLLECTION CREATION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One WQL collection per error code, created automatically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5029200" cy="224028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A0"/>
                </a:solidFill>
              </a:rPr>
              <a:t>WQL Membership 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pPr indent="0" marL="0">
              <a:buNone/>
            </a:pPr>
            <a:r>
              <a:rPr lang="en-US" sz="105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SMS_R_System.Name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SMS_R_System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SMS_G_System_WORKSTATION_STATUS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ResourceID</a:t>
            </a:r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...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ResourceId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LastErrorCode</a:t>
            </a:r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2147942405</a:t>
            </a:r>
            <a:pPr indent="0" marL="0">
              <a:buNone/>
            </a:pPr>
            <a:r>
              <a:rPr lang="en-US" sz="1050" dirty="0">
                <a:solidFill>
                  <a:srgbClr val="4A6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-- 0x80070005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32120" y="1188720"/>
            <a:ext cx="274320" cy="27432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9" name="Text 7"/>
          <p:cNvSpPr/>
          <p:nvPr/>
        </p:nvSpPr>
        <p:spPr>
          <a:xfrm>
            <a:off x="5532120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25312" y="11704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 catalogue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25312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</a:rPr>
              <a:t>29 entries with Code, ShortName, DecimalCode, RemediationScript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1810512"/>
            <a:ext cx="274320" cy="27432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25312" y="17922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 to SCCM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25312" y="2011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</a:rPr>
              <a:t>Loads ConfigMgr module, creates CMSite PSDrive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2432304"/>
            <a:ext cx="274320" cy="27432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25312" y="24140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folder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25312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</a:rPr>
              <a:t>Creates console subfolder (configurable name)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3054096"/>
            <a:ext cx="274320" cy="27432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3054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25312" y="30358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collections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25312" y="32552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</a:rPr>
              <a:t>New-CMDeviceCollection + WQL rule per error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3675888"/>
            <a:ext cx="274320" cy="27432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25312" y="3657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Move to folder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3877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</a:rPr>
              <a:t>Move-CMObject to keep console organised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32120" y="4297680"/>
            <a:ext cx="274320" cy="274320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29" name="Text 27"/>
          <p:cNvSpPr/>
          <p:nvPr/>
        </p:nvSpPr>
        <p:spPr>
          <a:xfrm>
            <a:off x="553212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25312" y="42793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Export log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25312" y="4498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</a:rPr>
              <a:t>Timestamped CSV of all collections created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407408"/>
            <a:ext cx="8503920" cy="54864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4480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Usage: 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61872" y="4480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.\SCCM_Create-PatchErrorCollections.ps1  -SiteServer "SCCMSERVER.domain.local"  -SiteCode "PS1"  -WhatIf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STEP 2 — MASTER DISPATCHER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Auto-detects the error. Calls the right script. Every time.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463040" cy="822960"/>
          </a:xfrm>
          <a:prstGeom prst="rect">
            <a:avLst/>
          </a:prstGeom>
          <a:solidFill>
            <a:srgbClr val="243447"/>
          </a:solidFill>
          <a:ln w="19050">
            <a:solidFill>
              <a:srgbClr val="00C8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704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SCCM deploys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script to device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46504" y="13716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A0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11680" y="1170432"/>
            <a:ext cx="1463040" cy="822960"/>
          </a:xfrm>
          <a:prstGeom prst="rect">
            <a:avLst/>
          </a:prstGeom>
          <a:solidFill>
            <a:srgbClr val="243447"/>
          </a:solidFill>
          <a:ln w="19050">
            <a:solidFill>
              <a:srgbClr val="00C8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1704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Auto-detect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error via WMI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83864" y="13716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A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49040" y="1170432"/>
            <a:ext cx="1463040" cy="822960"/>
          </a:xfrm>
          <a:prstGeom prst="rect">
            <a:avLst/>
          </a:prstGeom>
          <a:solidFill>
            <a:srgbClr val="243447"/>
          </a:solidFill>
          <a:ln w="19050">
            <a:solidFill>
              <a:srgbClr val="00C8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1704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Lookup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RemediationMap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21224" y="13716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A0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0" y="1170432"/>
            <a:ext cx="1463040" cy="822960"/>
          </a:xfrm>
          <a:prstGeom prst="rect">
            <a:avLst/>
          </a:prstGeom>
          <a:solidFill>
            <a:srgbClr val="00C8A0"/>
          </a:solidFill>
          <a:ln w="19050">
            <a:solidFill>
              <a:srgbClr val="00C8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1704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Execute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targeted script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58584" y="137160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C8A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23760" y="1170432"/>
            <a:ext cx="1463040" cy="822960"/>
          </a:xfrm>
          <a:prstGeom prst="rect">
            <a:avLst/>
          </a:prstGeom>
          <a:solidFill>
            <a:srgbClr val="009E7E"/>
          </a:solidFill>
          <a:ln w="19050">
            <a:solidFill>
              <a:srgbClr val="009E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17043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Log result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trigger scan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" y="22128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A0"/>
                </a:solidFill>
              </a:rPr>
              <a:t>Detection order: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2542032"/>
            <a:ext cx="1005840" cy="256032"/>
          </a:xfrm>
          <a:prstGeom prst="rect">
            <a:avLst>
              <a:gd name="adj" fmla="val 14286"/>
            </a:avLst>
          </a:prstGeom>
          <a:solidFill>
            <a:srgbClr val="00C8A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5420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Primary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81328" y="2560320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CCM_SoftwareUpdate WMI class (root\ccm\clientsdk) — most accurate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" y="2962656"/>
            <a:ext cx="1005840" cy="256032"/>
          </a:xfrm>
          <a:prstGeom prst="rect">
            <a:avLst>
              <a:gd name="adj" fmla="val 14286"/>
            </a:avLst>
          </a:prstGeom>
          <a:solidFill>
            <a:srgbClr val="F5C842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2962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Fallback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81328" y="298094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Windows Update registry (HKLM\...\Results\Install\LastError)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3383280"/>
            <a:ext cx="1005840" cy="256032"/>
          </a:xfrm>
          <a:prstGeom prst="rect">
            <a:avLst>
              <a:gd name="adj" fmla="val 14286"/>
            </a:avLst>
          </a:prstGeom>
          <a:solidFill>
            <a:srgbClr val="4A607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3832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Fallback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81328" y="34015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6"/>
                </a:solidFill>
              </a:rPr>
              <a:t>Generic WUA reset if no known code is detected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749040"/>
            <a:ext cx="8503920" cy="1115568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822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$RemediationMap excerpt  (29 entries total):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411480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"0x80D02002"</a:t>
            </a:r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@{ Script = </a:t>
            </a:r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"Remediate-0x80D02002_DeliveryOptimization.ps1"</a:t>
            </a:r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3525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"0x87D00664"</a:t>
            </a:r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@{ Script = </a:t>
            </a:r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"Remediate-0x87D00664_UpdatesHandlerJob.ps1"</a:t>
            </a:r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590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"0x80073712"</a:t>
            </a:r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@{ Script = </a:t>
            </a:r>
            <a:pPr indent="0" marL="0">
              <a:buNone/>
            </a:pPr>
            <a:r>
              <a:rPr lang="en-US" sz="10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"Remediate-0x80073712_CBSCorrupt.ps1"</a:t>
            </a:r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REMEDIATION SCRIPTS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15 targeted scripts — each fixes one specific root cause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1704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0x80070005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46504" y="11704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AccessDenied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4264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Resets ACLs, re-registers WUA DLLs, fixes wuauserv account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15568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2" name="Text 10"/>
          <p:cNvSpPr/>
          <p:nvPr/>
        </p:nvSpPr>
        <p:spPr>
          <a:xfrm>
            <a:off x="4919472" y="11704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0x80070422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81344" y="11704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WUServiceDisabled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9472" y="14264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Re-enables wuauserv, removes NoAutoUpdate GP override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792224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792224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" y="18470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0x8024402C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46504" y="1847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WsusConnectFail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1031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Clears WU registry, resets WinHTTP proxy, flushes DNS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792224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792224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18470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0x80070BC9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81344" y="1847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RebootPending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21031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Clears all pending-reboot registry keys across WU, CBS, SCCM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468880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68880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2523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0x80073712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46504" y="25237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CBSCorrupt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27797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DISM CheckHealth → ScanHealth → RestoreHealth + SFC scan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468880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468880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2523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0x80070643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81344" y="25237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MsiFileLocked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9472" y="27797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Clears MSI temp files, re-registers msiexec, kills lockers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145536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145536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" y="32004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0x80070002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46504" y="32004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DownloadFailed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4632" y="34564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Clears BITS queue, SoftwareDistribution\Download, CCM cache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145536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145536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32004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0x80D02002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81344" y="32004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DeliveryOptimization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19472" y="34564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Stops DoSvc, clears DO cache, sets HTTP-only mode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822192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822192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" y="3877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0x800705B9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746504" y="38770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XmlParseError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4632" y="41330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Deletes corrupt DataStore.edb, re-registers msxml3/6 DLLs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3822192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822192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52" name="Text 50"/>
          <p:cNvSpPr/>
          <p:nvPr/>
        </p:nvSpPr>
        <p:spPr>
          <a:xfrm>
            <a:off x="4919472" y="38770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0x87D00664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81344" y="387705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UpdatesHandlerJob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919472" y="41330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Clears CI stores, triggers fresh policy + deployment eval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4498848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" y="4498848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" y="45537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0x8007139F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746504" y="45537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InvalidState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84632" y="48097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Kills hung processes, restarts service group in correct order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54880" y="4498848"/>
            <a:ext cx="4206240" cy="585216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54880" y="4498848"/>
            <a:ext cx="73152" cy="58521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62" name="Text 60"/>
          <p:cNvSpPr/>
          <p:nvPr/>
        </p:nvSpPr>
        <p:spPr>
          <a:xfrm>
            <a:off x="4919472" y="45537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0x80070017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181344" y="45537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CRC_Shutdown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919472" y="48097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4BC"/>
                </a:solidFill>
              </a:rPr>
              <a:t>CHKDSK scan, clears corrupt downloads, SFC on shutdown cases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DEPLOYMENT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deployment options — choose what fits your environment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8503920" cy="114300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502920" cy="11430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A0"/>
                </a:solidFill>
              </a:rPr>
              <a:t>A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69264" y="1261872"/>
            <a:ext cx="1371600" cy="219456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12618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RECOMMENDED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9264" y="155448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One Package, one Program per collection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188366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Place all scripts in one SCCM Package source folder on your DP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20025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Create one Program per error collection, passing -ErrorCode per deployment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powershell.exe -File SCCM_Master-PatchRemediation.ps1 -ErrorCode "0x80D02002"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Set Rerun Behaviour = Always rerun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432304"/>
            <a:ext cx="8503920" cy="114300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32304"/>
            <a:ext cx="502920" cy="11430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32304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A0"/>
                </a:solidFill>
              </a:rPr>
              <a:t>B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69264" y="2523744"/>
            <a:ext cx="1051560" cy="21945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CATCH-ALL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69264" y="281635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Auto-detect mode — no -ErrorCode argument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31455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Deploy master script without -ErrorCode to a broad collection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32644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Script queries CCM_SoftwareUpdate WMI for last error automatically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05840" y="33832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Falls back to WU registry, then to generic WUA reset if unrecognised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35021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Useful as a safety net alongside targeted collections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694176"/>
            <a:ext cx="8503920" cy="114300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694176"/>
            <a:ext cx="502920" cy="1143000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694176"/>
            <a:ext cx="502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8A0"/>
                </a:solidFill>
              </a:rPr>
              <a:t>C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69264" y="3785616"/>
            <a:ext cx="1051560" cy="219456"/>
          </a:xfrm>
          <a:prstGeom prst="rect">
            <a:avLst/>
          </a:prstGeom>
          <a:solidFill>
            <a:srgbClr val="4A6070"/>
          </a:solidFill>
          <a:ln/>
        </p:spPr>
      </p:sp>
      <p:sp>
        <p:nvSpPr>
          <p:cNvPr id="29" name="Text 27"/>
          <p:cNvSpPr/>
          <p:nvPr/>
        </p:nvSpPr>
        <p:spPr>
          <a:xfrm>
            <a:off x="969264" y="37856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NO PACKAGE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69264" y="40782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SCCM Scripts feature (ConfigMgr 1706+)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05840" y="44074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Upload individual Remediate-*.ps1 via Administration &gt; Scripts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5840" y="452628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 directly against the matching collection from the SCCM console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46451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package or Distribution Point required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476402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Ideal for ad-hoc or one-time remediation runs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PROGRAM SETTINGS &amp; LOGGING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SCCM Program settings and log locations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320040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A0"/>
                </a:solidFill>
              </a:rPr>
              <a:t>PROGRAM SETTINGS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2194560" cy="29260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8" name="Shape 6"/>
          <p:cNvSpPr/>
          <p:nvPr/>
        </p:nvSpPr>
        <p:spPr>
          <a:xfrm>
            <a:off x="2578608" y="1554480"/>
            <a:ext cx="1828800" cy="29260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6002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Run 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33472" y="1600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SYSTEM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929384"/>
            <a:ext cx="2194560" cy="29260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2" name="Shape 10"/>
          <p:cNvSpPr/>
          <p:nvPr/>
        </p:nvSpPr>
        <p:spPr>
          <a:xfrm>
            <a:off x="2578608" y="1929384"/>
            <a:ext cx="1828800" cy="29260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975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User Interaction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33472" y="19751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304288"/>
            <a:ext cx="2194560" cy="29260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16" name="Shape 14"/>
          <p:cNvSpPr/>
          <p:nvPr/>
        </p:nvSpPr>
        <p:spPr>
          <a:xfrm>
            <a:off x="2578608" y="2304288"/>
            <a:ext cx="1828800" cy="29260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350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Max Run 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33472" y="2350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60 min (90 for CBS)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2679192"/>
            <a:ext cx="2194560" cy="29260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0" name="Shape 18"/>
          <p:cNvSpPr/>
          <p:nvPr/>
        </p:nvSpPr>
        <p:spPr>
          <a:xfrm>
            <a:off x="2578608" y="2679192"/>
            <a:ext cx="1828800" cy="29260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724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Est. Install Time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33472" y="27249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5–10 min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" y="3054096"/>
            <a:ext cx="2194560" cy="29260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4" name="Shape 22"/>
          <p:cNvSpPr/>
          <p:nvPr/>
        </p:nvSpPr>
        <p:spPr>
          <a:xfrm>
            <a:off x="2578608" y="3054096"/>
            <a:ext cx="1828800" cy="29260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30998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Rerun Behaviour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3347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Always rerun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" y="3429000"/>
            <a:ext cx="2194560" cy="29260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28" name="Shape 26"/>
          <p:cNvSpPr/>
          <p:nvPr/>
        </p:nvSpPr>
        <p:spPr>
          <a:xfrm>
            <a:off x="2578608" y="3429000"/>
            <a:ext cx="1828800" cy="29260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4747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Fallback to DP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33472" y="3474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Yes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" y="3803904"/>
            <a:ext cx="2194560" cy="292608"/>
          </a:xfrm>
          <a:prstGeom prst="rect">
            <a:avLst/>
          </a:prstGeom>
          <a:solidFill>
            <a:srgbClr val="243447"/>
          </a:solidFill>
          <a:ln/>
        </p:spPr>
      </p:sp>
      <p:sp>
        <p:nvSpPr>
          <p:cNvPr id="32" name="Shape 30"/>
          <p:cNvSpPr/>
          <p:nvPr/>
        </p:nvSpPr>
        <p:spPr>
          <a:xfrm>
            <a:off x="2578608" y="3803904"/>
            <a:ext cx="1828800" cy="292608"/>
          </a:xfrm>
          <a:prstGeom prst="rect">
            <a:avLst/>
          </a:prstGeom>
          <a:solidFill>
            <a:srgbClr val="162535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38496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4BC"/>
                </a:solidFill>
              </a:rPr>
              <a:t>Execution Policy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33472" y="3849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-ExecutionPolicy Bypass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1097280"/>
            <a:ext cx="4160520" cy="320040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11887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A0"/>
                </a:solidFill>
              </a:rPr>
              <a:t>LOG FILES  (C:\Windows\Temp\)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16002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PatchRemediation_Master.log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61504" y="1600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C"/>
                </a:solidFill>
              </a:rPr>
              <a:t>All dispatcher runs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8032" y="19751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PatchRemediation_AccessDenied.log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61504" y="1975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C"/>
                </a:solidFill>
              </a:rPr>
              <a:t>0x80070005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28032" y="23500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PatchRemediation_CBSCorrupt.log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61504" y="2350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C"/>
                </a:solidFill>
              </a:rPr>
              <a:t>0x80073712/371B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28032" y="27249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PatchRemediation_DeliveryOpt.log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461504" y="2724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C"/>
                </a:solidFill>
              </a:rPr>
              <a:t>0x80D02002/03805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28032" y="30998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PatchRemediation_HandlerJob.log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61504" y="30998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C"/>
                </a:solidFill>
              </a:rPr>
              <a:t>0x87D00664/665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28032" y="34747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PatchRemediation_XmlParse.log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61504" y="34747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C"/>
                </a:solidFill>
              </a:rPr>
              <a:t>0x800705B9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28032" y="3849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PatchRemediation_CRC_Shutdown.log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461504" y="384962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C"/>
                </a:solidFill>
              </a:rPr>
              <a:t>0x80070017/045B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25696"/>
            <a:ext cx="8503920" cy="50292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20040" y="4425696"/>
            <a:ext cx="109728" cy="5029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53" name="Text 51"/>
          <p:cNvSpPr/>
          <p:nvPr/>
        </p:nvSpPr>
        <p:spPr>
          <a:xfrm>
            <a:off x="566928" y="44805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C842"/>
                </a:solidFill>
              </a:rPr>
              <a:t>⚠  CBS repair (0x80073712, 0x8007371B): DISM RestoreHealth can take up to 45 minutes — set Max Run Time to 90 min for these two collections.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0C8A0"/>
                </a:solidFill>
              </a:rPr>
              <a:t>GITHUB REPOSITORY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4048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Everything you need in one repo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52044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618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1307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A0"/>
                </a:solidFill>
              </a:rPr>
              <a:t>Core Scripts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" y="17556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SCCM_Create-PatchErrorCollections.ps1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2249424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" y="22219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SCCM_Master-PatchRemediation.ps1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64408" y="1143000"/>
            <a:ext cx="2743200" cy="352044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288" y="12618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1307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A0"/>
                </a:solidFill>
              </a:rPr>
              <a:t>Remediation Scripts (15)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447288" y="1783080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6" name="Text 12"/>
          <p:cNvSpPr/>
          <p:nvPr/>
        </p:nvSpPr>
        <p:spPr>
          <a:xfrm>
            <a:off x="3593592" y="17556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Remediate-0x80070005_AccessDenied.ps1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447288" y="2249424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18" name="Text 14"/>
          <p:cNvSpPr/>
          <p:nvPr/>
        </p:nvSpPr>
        <p:spPr>
          <a:xfrm>
            <a:off x="3593592" y="22219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Remediate-0x80073712_CBSCorrupt.ps1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3447288" y="2715768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0" name="Text 16"/>
          <p:cNvSpPr/>
          <p:nvPr/>
        </p:nvSpPr>
        <p:spPr>
          <a:xfrm>
            <a:off x="3593592" y="268833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Remediate-0x80D02002_DeliveryOptimization.ps1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447288" y="3182112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2" name="Text 18"/>
          <p:cNvSpPr/>
          <p:nvPr/>
        </p:nvSpPr>
        <p:spPr>
          <a:xfrm>
            <a:off x="3593592" y="31546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Remediate-0x87D00664_UpdatesHandlerJob.ps1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447288" y="3648456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4" name="Text 20"/>
          <p:cNvSpPr/>
          <p:nvPr/>
        </p:nvSpPr>
        <p:spPr>
          <a:xfrm>
            <a:off x="3593592" y="362102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and 11 more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208776" y="1143000"/>
            <a:ext cx="2743200" cy="3520440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1261872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830568" y="13075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A0"/>
                </a:solidFill>
              </a:rPr>
              <a:t>Documentation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391656" y="1783080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29" name="Text 24"/>
          <p:cNvSpPr/>
          <p:nvPr/>
        </p:nvSpPr>
        <p:spPr>
          <a:xfrm>
            <a:off x="6537960" y="175564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EF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 — full GitHub docs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391656" y="2249424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1" name="Text 26"/>
          <p:cNvSpPr/>
          <p:nvPr/>
        </p:nvSpPr>
        <p:spPr>
          <a:xfrm>
            <a:off x="6537960" y="222199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 tables with decimal codes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6391656" y="2715768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3" name="Text 28"/>
          <p:cNvSpPr/>
          <p:nvPr/>
        </p:nvSpPr>
        <p:spPr>
          <a:xfrm>
            <a:off x="6537960" y="2688336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deployment guide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391656" y="3182112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5" name="Text 30"/>
          <p:cNvSpPr/>
          <p:nvPr/>
        </p:nvSpPr>
        <p:spPr>
          <a:xfrm>
            <a:off x="6537960" y="315468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 program command lines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6391656" y="3648456"/>
            <a:ext cx="64008" cy="2286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37" name="Text 32"/>
          <p:cNvSpPr/>
          <p:nvPr/>
        </p:nvSpPr>
        <p:spPr>
          <a:xfrm>
            <a:off x="6537960" y="3621024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guide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solidFill>
            <a:srgbClr val="162535"/>
          </a:solidFill>
          <a:ln w="12700">
            <a:solidFill>
              <a:srgbClr val="1E334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502920" y="4718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BC"/>
                </a:solidFill>
              </a:rPr>
              <a:t>Tip: Tag releases with version numbers. Use GitHub Actions to lint scripts with PSScriptAnalyzer on each push.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43447"/>
          </a:solidFill>
          <a:ln w="12700">
            <a:solidFill>
              <a:srgbClr val="00C8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243447"/>
          </a:solidFill>
          <a:ln w="12700">
            <a:solidFill>
              <a:srgbClr val="009E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8A0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A0"/>
                </a:solidFill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From scattered failures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to automated resolution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84048" y="2834640"/>
            <a:ext cx="164592" cy="164592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980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A0"/>
                </a:solidFill>
              </a:rPr>
              <a:t>29 error codes  </a:t>
            </a:r>
            <a:pPr indent="0" marL="0">
              <a:buNone/>
            </a:pPr>
            <a:r>
              <a:rPr lang="en-US" sz="1300" dirty="0">
                <a:solidFill>
                  <a:srgbClr val="8BA4BC"/>
                </a:solidFill>
              </a:rPr>
              <a:t>catalogued with WQL decimal codes and remediation mapping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3273552"/>
            <a:ext cx="164592" cy="164592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32369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A0"/>
                </a:solidFill>
              </a:rPr>
              <a:t>15 targeted scripts  </a:t>
            </a:r>
            <a:pPr indent="0" marL="0">
              <a:buNone/>
            </a:pPr>
            <a:r>
              <a:rPr lang="en-US" sz="1300" dirty="0">
                <a:solidFill>
                  <a:srgbClr val="8BA4BC"/>
                </a:solidFill>
              </a:rPr>
              <a:t>each fixing a specific root cause, not a generic reset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3712464"/>
            <a:ext cx="164592" cy="164592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675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A0"/>
                </a:solidFill>
              </a:rPr>
              <a:t>1 master dispatcher  </a:t>
            </a:r>
            <a:pPr indent="0" marL="0">
              <a:buNone/>
            </a:pPr>
            <a:r>
              <a:rPr lang="en-US" sz="1300" dirty="0">
                <a:solidFill>
                  <a:srgbClr val="8BA4BC"/>
                </a:solidFill>
              </a:rPr>
              <a:t>auto-detects error, routes to correct script, logs everything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4151376"/>
            <a:ext cx="164592" cy="164592"/>
          </a:xfrm>
          <a:prstGeom prst="ellipse">
            <a:avLst/>
          </a:prstGeom>
          <a:solidFill>
            <a:srgbClr val="00C8A0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A0"/>
                </a:solidFill>
              </a:rPr>
              <a:t>Full GitHub README  </a:t>
            </a:r>
            <a:pPr indent="0" marL="0">
              <a:buNone/>
            </a:pPr>
            <a:r>
              <a:rPr lang="en-US" sz="1300" dirty="0">
                <a:solidFill>
                  <a:srgbClr val="8BA4BC"/>
                </a:solidFill>
              </a:rPr>
              <a:t>deployment guide, program settings, log reference, contributing guide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SCCM Patch Error Automation</dc:title>
  <dc:subject>PptxGenJS Presentation</dc:subject>
  <dc:creator>IT Engineering</dc:creator>
  <cp:lastModifiedBy>IT Engineering</cp:lastModifiedBy>
  <cp:revision>1</cp:revision>
  <dcterms:created xsi:type="dcterms:W3CDTF">2026-03-22T07:22:44Z</dcterms:created>
  <dcterms:modified xsi:type="dcterms:W3CDTF">2026-03-22T07:22:44Z</dcterms:modified>
</cp:coreProperties>
</file>